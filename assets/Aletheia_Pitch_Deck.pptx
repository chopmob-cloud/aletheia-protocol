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36576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ℵ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Aletheia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ἀλήθεια  ·  Truth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920240" cy="0"/>
          </a:xfrm>
          <a:prstGeom prst="line">
            <a:avLst/>
          </a:prstGeom>
          <a:noFill/>
          <a:ln w="6350">
            <a:solidFill>
              <a:srgbClr val="C8972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AI-Verified Truth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Community Governance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2834640" cy="457200"/>
          </a:xfrm>
          <a:prstGeom prst="rect">
            <a:avLst/>
          </a:prstGeom>
          <a:solidFill>
            <a:srgbClr val="1A6B6B">
              <a:alpha val="40000"/>
            </a:srgbClr>
          </a:solidFill>
          <a:ln w="6350">
            <a:solidFill>
              <a:srgbClr val="2A94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⬡  BUILT ON ALGORAND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371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Truth should be immutable.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decentralised AI fact-verification and micro-governance platform. Community decisions — anchored on-chain, beyond doubt.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Exploring · v0.1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Decisions are made without verifiable truth.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2697480" cy="2560320"/>
          </a:xfrm>
          <a:prstGeom prst="rect">
            <a:avLst/>
          </a:prstGeom>
          <a:solidFill>
            <a:srgbClr val="1C2333"/>
          </a:solidFill>
          <a:ln w="6350">
            <a:solidFill>
              <a:srgbClr val="C8972A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37360"/>
            <a:ext cx="269748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157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claims circulate through institutions, communities and newsrooms with no tamper-proof record of what was actually decided or evidenced.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97480" cy="2560320"/>
          </a:xfrm>
          <a:prstGeom prst="rect">
            <a:avLst/>
          </a:prstGeom>
          <a:solidFill>
            <a:srgbClr val="1C2333"/>
          </a:solidFill>
          <a:ln w="6350">
            <a:solidFill>
              <a:srgbClr val="C8972A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737360"/>
            <a:ext cx="269748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opaque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7157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decisions, council votes, and DAO resolutions are regularly revised or contested — with no immutable audit trail for community members to verify.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737360"/>
            <a:ext cx="2697480" cy="2560320"/>
          </a:xfrm>
          <a:prstGeom prst="rect">
            <a:avLst/>
          </a:prstGeom>
          <a:solidFill>
            <a:srgbClr val="1C2333"/>
          </a:solidFill>
          <a:ln w="6350">
            <a:solidFill>
              <a:srgbClr val="C8972A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737360"/>
            <a:ext cx="269748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arbitration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157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 relies on whoever controls the database. Evidence can be altered. Context is lost. Outcomes serve power, not truth.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500,000+ deepfake videos shared in 2023  ·  AI governance market: $227M → $4.83B by 2034  ·  35.7% CAGR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Aletheia: two layers. One immutable truth.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3931920" cy="3017520"/>
          </a:xfrm>
          <a:prstGeom prst="rect">
            <a:avLst/>
          </a:prstGeom>
          <a:solidFill>
            <a:srgbClr val="0A0D12"/>
          </a:solidFill>
          <a:ln w="9525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89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LAYER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reasoning &amp; contradiction detection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OCR evidence ingestion &amp; source scoring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Probabilistic truth score (0–100)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 AI-generated voter summaries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Multi-source cross-referencing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457200" cy="36576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34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2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600200"/>
            <a:ext cx="3931920" cy="3017520"/>
          </a:xfrm>
          <a:prstGeom prst="rect">
            <a:avLst/>
          </a:prstGeom>
          <a:solidFill>
            <a:srgbClr val="0A0D12"/>
          </a:solidFill>
          <a:ln w="9525">
            <a:solidFill>
              <a:srgbClr val="2A949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ALGORAND LAYER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74920" y="2121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Immutable evidence notarisation (EvidenceVault)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ASIF-constrained AI agent oracle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 Stake or egalitarian governance voting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Post-quantum security via State Proofs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  DID / VC identity integration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= Tamper-proof, AI-contextualised community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PROTOCOL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Four steps from claim to immutable record.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011680" cy="3108960"/>
          </a:xfrm>
          <a:prstGeom prst="rect">
            <a:avLst/>
          </a:prstGeom>
          <a:solidFill>
            <a:srgbClr val="1C2333"/>
          </a:solidFill>
          <a:ln w="9525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201168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" y="26974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Claim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" y="31089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 submits claim + evidence hash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972A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06040" y="1508760"/>
            <a:ext cx="2011680" cy="3108960"/>
          </a:xfrm>
          <a:prstGeom prst="rect">
            <a:avLst/>
          </a:prstGeom>
          <a:solidFill>
            <a:srgbClr val="0A0D12"/>
          </a:solidFill>
          <a:ln w="9525">
            <a:solidFill>
              <a:srgbClr val="E8B84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508760"/>
            <a:ext cx="201168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15768" y="26974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5768" y="31089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scores consistency, reliability, contradictions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84B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00600" y="1508760"/>
            <a:ext cx="2011680" cy="3108960"/>
          </a:xfrm>
          <a:prstGeom prst="rect">
            <a:avLst/>
          </a:prstGeom>
          <a:solidFill>
            <a:srgbClr val="1C2333"/>
          </a:solidFill>
          <a:ln w="9525">
            <a:solidFill>
              <a:srgbClr val="2A949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508760"/>
            <a:ext cx="2011680" cy="54864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4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60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10328" y="26974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31089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vote with full AI context. Smart contracts enforce rules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228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494"/>
                </a:solidFill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95160" y="1508760"/>
            <a:ext cx="2011680" cy="3108960"/>
          </a:xfrm>
          <a:prstGeom prst="rect">
            <a:avLst/>
          </a:prstGeom>
          <a:solidFill>
            <a:srgbClr val="0A0D12"/>
          </a:solidFill>
          <a:ln w="9525">
            <a:solidFill>
              <a:srgbClr val="1A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1508760"/>
            <a:ext cx="2011680" cy="54864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9516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⬡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104888" y="26974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On-Chain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04888" y="31089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evidence sealed immutably on Algorand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USE CASES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truth matters most.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114800" cy="1508760"/>
          </a:xfrm>
          <a:prstGeom prst="rect">
            <a:avLst/>
          </a:prstGeom>
          <a:solidFill>
            <a:srgbClr val="0A0D12"/>
          </a:solidFill>
          <a:ln w="6350">
            <a:solidFill>
              <a:srgbClr val="C8972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45720" cy="15087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University Integrity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academic governance — appeals, senate decisions, grade disputes. No more quietly revised meeting minutes.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114800" cy="1508760"/>
          </a:xfrm>
          <a:prstGeom prst="rect">
            <a:avLst/>
          </a:prstGeom>
          <a:solidFill>
            <a:srgbClr val="0A0D12"/>
          </a:solidFill>
          <a:ln w="6350">
            <a:solidFill>
              <a:srgbClr val="C8972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45720" cy="15087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Local Democracy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claims, planning decisions, policy verification. AI summaries level the playing field for all literacy levels.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4114800" cy="1508760"/>
          </a:xfrm>
          <a:prstGeom prst="rect">
            <a:avLst/>
          </a:prstGeom>
          <a:solidFill>
            <a:srgbClr val="0A0D12"/>
          </a:solidFill>
          <a:ln w="6350">
            <a:solidFill>
              <a:srgbClr val="C8972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200400"/>
            <a:ext cx="45720" cy="15087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Journalism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verified article carries a cryptographic truth certificate. Auditable by anyone, permanently.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114800" cy="1508760"/>
          </a:xfrm>
          <a:prstGeom prst="rect">
            <a:avLst/>
          </a:prstGeom>
          <a:solidFill>
            <a:srgbClr val="0A0D12"/>
          </a:solidFill>
          <a:ln w="6350">
            <a:solidFill>
              <a:srgbClr val="C8972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200400"/>
            <a:ext cx="45720" cy="15087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DAO Governance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communities govern with AI-verified context. Dispute resolution stored immutably on-chain.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SMART CONTRACT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composable contracts. One trust stack.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74320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274320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EvidenceVault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RECORD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2468880" cy="0"/>
          </a:xfrm>
          <a:prstGeom prst="line">
            <a:avLst/>
          </a:prstGeom>
          <a:noFill/>
          <a:ln w="5080">
            <a:solidFill>
              <a:srgbClr val="C8972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Box storage for claim records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SHA-256 evidence provenance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Truth score sealing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ARC-4 / ARC-56 compliant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74320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A949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508760"/>
            <a:ext cx="2743200" cy="54864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VerificationOracle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BRIDGE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2468880" cy="0"/>
          </a:xfrm>
          <a:prstGeom prst="line">
            <a:avLst/>
          </a:prstGeom>
          <a:noFill/>
          <a:ln w="5080">
            <a:solidFill>
              <a:srgbClr val="2A9494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ASIF-constrained agent wallet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8163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Nonce replay protection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32552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Rate limiting (per-window)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 key rotation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508760"/>
            <a:ext cx="274320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508760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GovernanceRoom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VOTING LAYER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00800" y="2267712"/>
            <a:ext cx="2468880" cy="0"/>
          </a:xfrm>
          <a:prstGeom prst="line">
            <a:avLst/>
          </a:prstGeom>
          <a:noFill/>
          <a:ln w="5080">
            <a:solidFill>
              <a:srgbClr val="E8B84B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Egalitarian + stake-weighted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0" y="28163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Quorum enforcement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32552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One-vote-per-address (box)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Immutable resolution seal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AlgoKit · PuyaTs · ARC-4 · ARC-56 · ASIF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massive, underserved gap.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060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45720" cy="14173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$227M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market today (2024)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6060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08760"/>
            <a:ext cx="45720" cy="14173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45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$4.83B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by 2034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508760"/>
            <a:ext cx="26060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508760"/>
            <a:ext cx="45720" cy="1417320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45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4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35.7%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fastest growing governance segment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26060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108960"/>
            <a:ext cx="45720" cy="14173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500K+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videos shared on social media (2023)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6060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08960"/>
            <a:ext cx="45720" cy="14173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3756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deepfakes on social by 2025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3108960"/>
            <a:ext cx="26060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108960"/>
            <a:ext cx="45720" cy="1417320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4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2648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Algorand governance platforms today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Aletheia sits at the exact intersection of AI verification, on-chain governance, and community trust — a white space no current project on Algorand addresses.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9494"/>
          </a:solidFill>
          <a:ln w="12700">
            <a:solidFill>
              <a:srgbClr val="2A94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GO-TO-MARKET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Start narrow. Go deep. Then expand.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029200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502920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BEACHHEAD: University Student Unions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audience · Clear governance structure · Existing pain (opaque decisions) · No legal minefield around public figures · Pays per decision room.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320040" cy="320040"/>
          </a:xfrm>
          <a:prstGeom prst="ellipse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11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0–6mo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36118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university pilot. Prove the model. Iterate on UX.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4096512"/>
            <a:ext cx="320040" cy="320040"/>
          </a:xfrm>
          <a:prstGeom prst="ellipse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507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4050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6–18mo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0507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institutions. Fact Audit API launch. B2B revenue.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535424"/>
            <a:ext cx="320040" cy="320040"/>
          </a:xfrm>
          <a:prstGeom prst="ellipse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897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44897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18mo+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44897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DAOs, councils, newsrooms. White-label + staking module.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1508760"/>
            <a:ext cx="3200400" cy="1920240"/>
          </a:xfrm>
          <a:prstGeom prst="rect">
            <a:avLst/>
          </a:prstGeom>
          <a:solidFill>
            <a:srgbClr val="1C2333"/>
          </a:solidFill>
          <a:ln w="9525">
            <a:solidFill>
              <a:srgbClr val="2A949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5216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STREAMS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52160" y="1965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Pay-per-verified document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2219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Premium decision rooms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24780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Fact Audit API (B2B)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2734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White-label deployments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9900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Staking dispute modules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Shipping in clear milestones.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229600" cy="0"/>
          </a:xfrm>
          <a:prstGeom prst="line">
            <a:avLst/>
          </a:prstGeom>
          <a:noFill/>
          <a:ln w="12700">
            <a:solidFill>
              <a:srgbClr val="C8972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627632"/>
            <a:ext cx="402336" cy="402336"/>
          </a:xfrm>
          <a:prstGeom prst="ellipse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9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2011680" cy="2377440"/>
          </a:xfrm>
          <a:prstGeom prst="rect">
            <a:avLst/>
          </a:prstGeom>
          <a:solidFill>
            <a:srgbClr val="0A0D12"/>
          </a:solidFill>
          <a:ln w="6350">
            <a:solidFill>
              <a:srgbClr val="C89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Scaffold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contracts designed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AlgoKit project init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 suite skeleton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627632"/>
            <a:ext cx="402336" cy="402336"/>
          </a:xfrm>
          <a:prstGeom prst="ellipse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627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9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4600" y="2057400"/>
            <a:ext cx="2011680" cy="2377440"/>
          </a:xfrm>
          <a:prstGeom prst="rect">
            <a:avLst/>
          </a:prstGeom>
          <a:solidFill>
            <a:srgbClr val="0A0D12"/>
          </a:solidFill>
          <a:ln w="6350">
            <a:solidFill>
              <a:srgbClr val="8A93A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Deploy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Localnet → Testnet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oracle integration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Basic React dApp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1627632"/>
            <a:ext cx="402336" cy="402336"/>
          </a:xfrm>
          <a:prstGeom prst="ellipse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627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9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2057400"/>
            <a:ext cx="2011680" cy="2377440"/>
          </a:xfrm>
          <a:prstGeom prst="rect">
            <a:avLst/>
          </a:prstGeom>
          <a:solidFill>
            <a:srgbClr val="0A0D12"/>
          </a:solidFill>
          <a:ln w="6350">
            <a:solidFill>
              <a:srgbClr val="8A93A8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university pilot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governance 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trail UI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1627632"/>
            <a:ext cx="402336" cy="402336"/>
          </a:xfrm>
          <a:prstGeom prst="ellipse">
            <a:avLst/>
          </a:prstGeom>
          <a:solidFill>
            <a:srgbClr val="1C2333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627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9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20840" y="2057400"/>
            <a:ext cx="2011680" cy="2377440"/>
          </a:xfrm>
          <a:prstGeom prst="rect">
            <a:avLst/>
          </a:prstGeom>
          <a:solidFill>
            <a:srgbClr val="0A0D12"/>
          </a:solidFill>
          <a:ln w="6350">
            <a:solidFill>
              <a:srgbClr val="8A93A8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Growth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Fact Audit API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Indexer integration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B2B onboarding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36576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C897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ℵ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Ready to build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immutable truth.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Aletheia is in active exploration. The smart contract architecture is designed, the AlgoKit scaffold is ready, and the beachhead use case is identified.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4114800" cy="5029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ilc-n.xyz/aletheia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57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WE'RE EXPLORING NEXT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49240" y="10058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AI verification engine integration (Claude API)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16459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 Testnet deployment via AlgoKit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22860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 React dApp with wallet connect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29260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University pilot partnership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3566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xGov proposal for ecosystem grant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4709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A9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⬡  BUILT ON ALGORAND  ·  EXPLORING v0.1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Aletheia — AI-Verified Truth Layer on Algorand</dc:title>
  <dc:subject>PptxGenJS Presentation</dc:subject>
  <dc:creator>Aletheia Protocol</dc:creator>
  <cp:lastModifiedBy>Aletheia Protocol</cp:lastModifiedBy>
  <cp:revision>1</cp:revision>
  <dcterms:created xsi:type="dcterms:W3CDTF">2026-03-03T11:52:10Z</dcterms:created>
  <dcterms:modified xsi:type="dcterms:W3CDTF">2026-03-03T11:52:10Z</dcterms:modified>
</cp:coreProperties>
</file>